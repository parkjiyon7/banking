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d63c694efd04515" /><Relationship Type="http://schemas.openxmlformats.org/package/2006/relationships/metadata/core-properties" Target="/docProps/core.xml" Id="R37928ad4285c4d6b" /><Relationship Type="http://schemas.openxmlformats.org/officeDocument/2006/relationships/extended-properties" Target="/docProps/app.xml" Id="R3670080fdfcd485c" /><Relationship Type="http://schemas.openxmlformats.org/officeDocument/2006/relationships/custom-properties" Target="/docProps/custom.xml" Id="Rdeb547bb50e54c8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59c91ddb42884f16"/>
  </p:notesMasterIdLst>
  <p:sldIdLst>
    <p:sldId id="256" r:id="Rca0c7c4cbf084c6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a0c7c4cbf084c6a" /><Relationship Type="http://schemas.openxmlformats.org/officeDocument/2006/relationships/notesMaster" Target="/ppt/notesMasters/notesMaster1.xml" Id="R59c91ddb42884f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27590f93e348d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73273dd96f4009" /><Relationship Type="http://schemas.openxmlformats.org/officeDocument/2006/relationships/slide" Target="/ppt/slides/slide1.xml" Id="R333e9f7b5ab0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Architecture Diagram — watsonx Orchestrate Finance RAG Agent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사용자 질문 → finance_rag_agent(Top Orchestrator) → 질문 분류 → Sub-Agent 3개 라우팅</a:t>
            </a:r>
          </a:p>
          <a:p xmlns:a="http://schemas.openxmlformats.org/drawingml/2006/main">
            <a:r>
              <a:rPr lang="en-US"/>
              <a:t>- product_agent: RAG Q&amp;A, Knowledge Base(financial_products_guide.txt)</a:t>
            </a:r>
          </a:p>
          <a:p xmlns:a="http://schemas.openxmlformats.org/drawingml/2006/main">
            <a:r>
              <a:rPr lang="en-US"/>
              <a:t>- deposit_advisor_agent: No-Code Workflow, docext/userflow/prompt</a:t>
            </a:r>
          </a:p>
          <a:p xmlns:a="http://schemas.openxmlformats.org/drawingml/2006/main">
            <a:r>
              <a:rPr lang="en-US"/>
              <a:t>- exchange_rate_agent: OpenAPI Tool, 한국수출입은행 API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36ca4e2f5b41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4fa3158b541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dfd8e74c44d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4a628d82b4e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bf2144d7f404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fced7e80d09449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6cd2653374c17" /><Relationship Type="http://schemas.openxmlformats.org/officeDocument/2006/relationships/notesSlide" Target="/ppt/notesSlides/notesSlide1.xml" Id="R6e94d0e6cb9348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/>
      <p:sp>
        <p:nvSpPr>
          <p:cNvPr id="100000" name="SlideTitle"/>
          <p:cNvSpPr txBox="1"/>
          <p:nvPr/>
        </p:nvSpPr>
        <p:spPr>
          <a:xfrm xmlns:a="http://schemas.openxmlformats.org/drawingml/2006/main">
            <a:off x="360000" y="108000"/>
            <a:ext cx="11448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F172A"/>
                </a:solidFill>
              </a:rPr>
              <a:t>Full Architecture — watsonx Orchestrate Finance RAG Agent</a:t>
            </a:r>
          </a:p>
        </p:txBody>
      </p:sp>
      <p:sp>
        <p:nvSpPr>
          <p:cNvPr id="100001" name="UserBubble"/>
          <p:cNvSpPr txBox="1"/>
          <p:nvPr/>
        </p:nvSpPr>
        <p:spPr>
          <a:xfrm xmlns:a="http://schemas.openxmlformats.org/drawingml/2006/main">
            <a:off x="4140000" y="558000"/>
            <a:ext cx="360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FFFFFF"/>
                </a:solidFill>
              </a:rPr>
              <a:t>👤 사용자 질문</a:t>
            </a:r>
          </a:p>
          <a:p xmlns:a="http://schemas.openxmlformats.org/drawingml/2006/main">
            <a:pPr algn="ctr"/>
            <a:r>
              <a:rPr lang="en-US" sz="1200" b="0">
                <a:solidFill>
                  <a:srgbClr val="FFFFFF"/>
                </a:solidFill>
              </a:rPr>
              <a:t>금융 AI 어시스턴트 채팅</a:t>
            </a:r>
          </a:p>
        </p:txBody>
      </p:sp>
      <p:sp>
        <p:nvSpPr>
          <p:cNvPr id="100002" name="ArrowDown1"/>
          <p:cNvSpPr txBox="1"/>
          <p:nvPr/>
        </p:nvSpPr>
        <p:spPr>
          <a:xfrm xmlns:a="http://schemas.openxmlformats.org/drawingml/2006/main">
            <a:off x="4680000" y="1080000"/>
            <a:ext cx="25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9097AA"/>
                </a:solidFill>
              </a:rPr>
              <a:t>질문 입력 ↓  ↑ 최종 답변 반환</a:t>
            </a:r>
          </a:p>
        </p:txBody>
      </p:sp>
      <p:sp>
        <p:nvSpPr>
          <p:cNvPr id="100003" name="TopAgent"/>
          <p:cNvSpPr txBox="1"/>
          <p:nvPr/>
        </p:nvSpPr>
        <p:spPr>
          <a:xfrm xmlns:a="http://schemas.openxmlformats.org/drawingml/2006/main">
            <a:off x="3060000" y="1332000"/>
            <a:ext cx="576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D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FFFFFF"/>
                </a:solidFill>
              </a:rPr>
              <a:t>🏦 finance_rag_agent  |  금융 AI 어시스턴트</a:t>
            </a:r>
          </a:p>
          <a:p xmlns:a="http://schemas.openxmlformats.org/drawingml/2006/main">
            <a:pPr algn="ctr"/>
            <a:r>
              <a:rPr lang="en-US" sz="1100" b="0">
                <a:solidFill>
                  <a:srgbClr val="FFFFFF"/>
                </a:solidFill>
              </a:rPr>
              <a:t>Top Orchestrator · react_core · LLM: gpt-oss-120b</a:t>
            </a:r>
          </a:p>
          <a:p xmlns:a="http://schemas.openxmlformats.org/drawingml/2006/main">
            <a:pPr algn="ctr"/>
            <a:r>
              <a:rPr lang="en-US" sz="1100" b="0">
                <a:solidFill>
                  <a:srgbClr val="FFFFFF"/>
                </a:solidFill>
              </a:rPr>
              <a:t>질문 분류 후 Sub-Agent 라우팅</a:t>
            </a:r>
          </a:p>
        </p:txBody>
      </p:sp>
      <p:sp>
        <p:nvSpPr>
          <p:cNvPr id="100004" name="BranchLabel"/>
          <p:cNvSpPr txBox="1"/>
          <p:nvPr/>
        </p:nvSpPr>
        <p:spPr>
          <a:xfrm xmlns:a="http://schemas.openxmlformats.org/drawingml/2006/main">
            <a:off x="360000" y="2016000"/>
            <a:ext cx="11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9097AA"/>
                </a:solidFill>
              </a:rPr>
              <a:t>상품 안내 질문 ↓                         적금 추천 요청 ↓                         환율 조회 요청 ↓</a:t>
            </a:r>
          </a:p>
        </p:txBody>
      </p:sp>
      <p:sp>
        <p:nvSpPr>
          <p:cNvPr id="100005" name="SA1"/>
          <p:cNvSpPr txBox="1"/>
          <p:nvPr/>
        </p:nvSpPr>
        <p:spPr>
          <a:xfrm xmlns:a="http://schemas.openxmlformats.org/drawingml/2006/main">
            <a:off x="180000" y="2232000"/>
            <a:ext cx="3672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📖 Knowledge 활용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📚 product_agent  금융 상품 안내 에이전트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RAG Q&amp;A · Knowledge Base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📂 Knowledge: product_guide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금융 상품 안내 문서 검색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↓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🤖 LLM 답변 생성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1A4731"/>
                </a:solidFill>
              </a:rPr>
              <a:t>금리 · 조건 · 우대 혜택</a:t>
            </a:r>
          </a:p>
        </p:txBody>
      </p:sp>
      <p:sp>
        <p:nvSpPr>
          <p:cNvPr id="100006" name="SA2"/>
          <p:cNvSpPr txBox="1"/>
          <p:nvPr/>
        </p:nvSpPr>
        <p:spPr>
          <a:xfrm xmlns:a="http://schemas.openxmlformats.org/drawingml/2006/main">
            <a:off x="4068000" y="2232000"/>
            <a:ext cx="3888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⚙️ Workflow 활용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📋 deposit_advisor_agent  적금 추천 에이전트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No-Code Workflow · @flow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⚙️ deposit_advisor_flow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① Document Extraction (docext)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   mistral-small-3-1-24b · deposit_products.pdf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② User Form (userflow)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   나이 · 저축 목적 · 기간 · 월 납입 금액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③ LLM Prompt (prompt)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7A2900"/>
                </a:solidFill>
              </a:rPr>
              <a:t>   gpt-oss-120b · A/B/C 최적 추천</a:t>
            </a:r>
          </a:p>
        </p:txBody>
      </p:sp>
      <p:sp>
        <p:nvSpPr>
          <p:cNvPr id="100007" name="SA3"/>
          <p:cNvSpPr txBox="1"/>
          <p:nvPr/>
        </p:nvSpPr>
        <p:spPr>
          <a:xfrm xmlns:a="http://schemas.openxmlformats.org/drawingml/2006/main">
            <a:off x="8172000" y="2232000"/>
            <a:ext cx="3888000" cy="20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🔧 Tool(API) 활용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💱 exchange_rate_agent  실시간 환율 조회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OpenAPI Tool · 실시간 환율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🌐 한국수출입은행 API 호출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get_single / get_all_exchange_rates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↓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📊 환율 답변 생성</a:t>
            </a:r>
          </a:p>
          <a:p xmlns:a="http://schemas.openxmlformats.org/drawingml/2006/main">
            <a:pPr algn="l"/>
            <a:r>
              <a:rPr lang="en-US" sz="1000" b="0">
                <a:solidFill>
                  <a:srgbClr val="3D0070"/>
                </a:solidFill>
              </a:rPr>
              <a:t>매매기준율 · 매입률 · 매도율</a:t>
            </a:r>
          </a:p>
        </p:txBody>
      </p:sp>
      <p:sp>
        <p:nvSpPr>
          <p:cNvPr id="100008" name="DS1"/>
          <p:cNvSpPr txBox="1"/>
          <p:nvPr/>
        </p:nvSpPr>
        <p:spPr>
          <a:xfrm xmlns:a="http://schemas.openxmlformats.org/drawingml/2006/main">
            <a:off x="180000" y="4392000"/>
            <a:ext cx="3672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555E72"/>
                </a:solidFill>
              </a:rPr>
              <a:t>📄 financial_products_guide.txt</a:t>
            </a:r>
          </a:p>
          <a:p xmlns:a="http://schemas.openxmlformats.org/drawingml/2006/main">
            <a:pPr algn="ctr"/>
            <a:r>
              <a:rPr lang="en-US" sz="900" b="0">
                <a:solidFill>
                  <a:srgbClr val="555E72"/>
                </a:solidFill>
              </a:rPr>
              <a:t>예금 · 적금 · 대출 · 투자 · 외환</a:t>
            </a:r>
          </a:p>
        </p:txBody>
      </p:sp>
      <p:sp>
        <p:nvSpPr>
          <p:cNvPr id="100009" name="DS2"/>
          <p:cNvSpPr txBox="1"/>
          <p:nvPr/>
        </p:nvSpPr>
        <p:spPr>
          <a:xfrm xmlns:a="http://schemas.openxmlformats.org/drawingml/2006/main">
            <a:off x="4068000" y="4392000"/>
            <a:ext cx="3888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555E72"/>
                </a:solidFill>
              </a:rPr>
              <a:t>📑 deposit_products.pdf</a:t>
            </a:r>
          </a:p>
          <a:p xmlns:a="http://schemas.openxmlformats.org/drawingml/2006/main">
            <a:pPr algn="ctr"/>
            <a:r>
              <a:rPr lang="en-US" sz="900" b="0">
                <a:solidFill>
                  <a:srgbClr val="555E72"/>
                </a:solidFill>
              </a:rPr>
              <a:t>상품 A / B / C</a:t>
            </a:r>
          </a:p>
        </p:txBody>
      </p:sp>
      <p:sp>
        <p:nvSpPr>
          <p:cNvPr id="100010" name="DS3"/>
          <p:cNvSpPr txBox="1"/>
          <p:nvPr/>
        </p:nvSpPr>
        <p:spPr>
          <a:xfrm xmlns:a="http://schemas.openxmlformats.org/drawingml/2006/main">
            <a:off x="8172000" y="4392000"/>
            <a:ext cx="3888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555E72"/>
                </a:solidFill>
              </a:rPr>
              <a:t>🌐 oapi.koreaexim.go.kr</a:t>
            </a:r>
          </a:p>
          <a:p xmlns:a="http://schemas.openxmlformats.org/drawingml/2006/main">
            <a:pPr algn="ctr"/>
            <a:r>
              <a:rPr lang="en-US" sz="900" b="0">
                <a:solidFill>
                  <a:srgbClr val="555E72"/>
                </a:solidFill>
              </a:rPr>
              <a:t>AP01 · 40+ 통화 · HTTP GET</a:t>
            </a:r>
          </a:p>
        </p:txBody>
      </p:sp>
      <p:sp>
        <p:nvSpPr>
          <p:cNvPr id="100011" name="ReturnLabels"/>
          <p:cNvSpPr txBox="1"/>
          <p:nvPr/>
        </p:nvSpPr>
        <p:spPr>
          <a:xfrm xmlns:a="http://schemas.openxmlformats.org/drawingml/2006/main">
            <a:off x="360000" y="4806000"/>
            <a:ext cx="11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9097AA"/>
                </a:solidFill>
              </a:rPr>
              <a:t>▲ 답변 반환                                    ▲ 추천 결과 반환                                    ▲ 실시간 환율 반환</a:t>
            </a:r>
          </a:p>
        </p:txBody>
      </p:sp>
      <p:sp>
        <p:nvSpPr>
          <p:cNvPr id="100012" name="FinalBubble"/>
          <p:cNvSpPr txBox="1"/>
          <p:nvPr/>
        </p:nvSpPr>
        <p:spPr>
          <a:xfrm xmlns:a="http://schemas.openxmlformats.org/drawingml/2006/main">
            <a:off x="4140000" y="5040000"/>
            <a:ext cx="360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0">
                <a:solidFill>
                  <a:srgbClr val="FFFFFF"/>
                </a:solidFill>
              </a:rPr>
              <a:t>💬 최종 답변 전달</a:t>
            </a:r>
          </a:p>
          <a:p xmlns:a="http://schemas.openxmlformats.org/drawingml/2006/main">
            <a:pPr algn="ctr"/>
            <a:r>
              <a:rPr lang="en-US" sz="1200" b="0">
                <a:solidFill>
                  <a:srgbClr val="FFFFFF"/>
                </a:solidFill>
              </a:rPr>
              <a:t>사용자에게 반환</a:t>
            </a:r>
          </a:p>
        </p:txBody>
      </p:sp>
      <p:sp>
        <p:nvSpPr>
          <p:cNvPr id="100013" name="PoweredBy"/>
          <p:cNvSpPr txBox="1"/>
          <p:nvPr/>
        </p:nvSpPr>
        <p:spPr>
          <a:xfrm xmlns:a="http://schemas.openxmlformats.org/drawingml/2006/main">
            <a:off x="0" y="6588000"/>
            <a:ext cx="121932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 b="0">
                <a:solidFill>
                  <a:srgbClr val="AAB4CC"/>
                </a:solidFill>
              </a:rPr>
              <a:t>Powered by IBM Bob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2026-10-26T06:45:45Z</dcterms:created>
  <cp:lastModifiedBy>OfficeCLI</cp:lastModifiedBy>
  <dcterms:modified xsi:type="dcterms:W3CDTF">2026-10-26T06:45:45Z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2026-10-26T06:45:46Z</vt:lpwstr>
  </op:property>
</op:Properties>
</file>